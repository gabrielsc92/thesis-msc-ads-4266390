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30275213" cy="42811700"/>
  <p:notesSz cx="6858000" cy="9144000"/>
  <p:defaultTextStyle>
    <a:defPPr lvl="0">
      <a:defRPr lang="nl-NL"/>
    </a:defPPr>
    <a:lvl1pPr marL="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13">
          <p15:clr>
            <a:srgbClr val="A4A3A4"/>
          </p15:clr>
        </p15:guide>
        <p15:guide id="2" pos="1907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A43404-F217-93EA-BC35-BFB0492AFE1F}" name="Silva Cheinquer, G. (Gabriel)" initials="GS" userId="S::g.silvacheinquer@students.uu.nl::8c60993e-64fd-44d7-ac74-1e7ff89515b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7823"/>
    <a:srgbClr val="FFCD00"/>
    <a:srgbClr val="FFCB00"/>
    <a:srgbClr val="FCE1BE"/>
    <a:srgbClr val="FADAB3"/>
    <a:srgbClr val="FEE7C9"/>
    <a:srgbClr val="005857"/>
    <a:srgbClr val="027077"/>
    <a:srgbClr val="FFEED6"/>
    <a:srgbClr val="006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Stijl, licht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Stijl, gemiddeld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8FB837D-C827-4EFA-A057-4D05807E0F7C}" styleName="Stijl, thema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Stijl, thema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Stijl, thema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12" autoAdjust="0"/>
    <p:restoredTop sz="50000" autoAdjust="0"/>
  </p:normalViewPr>
  <p:slideViewPr>
    <p:cSldViewPr snapToObjects="1">
      <p:cViewPr>
        <p:scale>
          <a:sx n="33" d="100"/>
          <a:sy n="33" d="100"/>
        </p:scale>
        <p:origin x="1656" y="-2008"/>
      </p:cViewPr>
      <p:guideLst>
        <p:guide orient="horz" pos="6713"/>
        <p:guide pos="190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829B4-9606-2A42-8BE7-C95716C4B49D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81A27-1440-C343-B73A-EDC558E67D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71954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1pPr>
    <a:lvl2pPr marL="2088170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2pPr>
    <a:lvl3pPr marL="4176339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3pPr>
    <a:lvl4pPr marL="6264509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4pPr>
    <a:lvl5pPr marL="8352678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5pPr>
    <a:lvl6pPr marL="10440848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6pPr>
    <a:lvl7pPr marL="12529017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7pPr>
    <a:lvl8pPr marL="14617187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8pPr>
    <a:lvl9pPr marL="16705356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2216150" y="685800"/>
            <a:ext cx="2425700" cy="34290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81A27-1440-C343-B73A-EDC558E67D24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605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>
          <a:xfrm>
            <a:off x="1513762" y="39680111"/>
            <a:ext cx="7064217" cy="2279327"/>
          </a:xfrm>
          <a:prstGeom prst="rect">
            <a:avLst/>
          </a:prstGeom>
        </p:spPr>
        <p:txBody>
          <a:bodyPr/>
          <a:lstStyle/>
          <a:p>
            <a:fld id="{C28BEF97-4A46-C940-8C59-2C42CB4C4E51}" type="datetimeFigureOut">
              <a:rPr lang="nl-NL" smtClean="0"/>
              <a:t>24-6-2026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>
          <a:xfrm>
            <a:off x="10344034" y="39680111"/>
            <a:ext cx="9587151" cy="2279327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21697237" y="39680111"/>
            <a:ext cx="7064217" cy="2279327"/>
          </a:xfrm>
          <a:prstGeom prst="rect">
            <a:avLst/>
          </a:prstGeom>
        </p:spPr>
        <p:txBody>
          <a:bodyPr/>
          <a:lstStyle/>
          <a:p>
            <a:fld id="{83473042-6688-F148-AA6B-B0D689358453}" type="slidenum">
              <a:rPr lang="nl-NL" smtClean="0"/>
              <a:t>‹#›</a:t>
            </a:fld>
            <a:endParaRPr lang="nl-NL"/>
          </a:p>
        </p:txBody>
      </p:sp>
      <p:pic>
        <p:nvPicPr>
          <p:cNvPr id="6" name="Afbeelding 5" descr="Afbeelding met tekst&#10;&#10;Automatisch gegenereerde beschrijving">
            <a:extLst>
              <a:ext uri="{FF2B5EF4-FFF2-40B4-BE49-F238E27FC236}">
                <a16:creationId xmlns:a16="http://schemas.microsoft.com/office/drawing/2014/main" id="{C7A2DF9D-CA9F-014B-8D46-09573ECA44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43" y="0"/>
            <a:ext cx="9875479" cy="388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23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Afbeelding 17">
            <a:extLst>
              <a:ext uri="{FF2B5EF4-FFF2-40B4-BE49-F238E27FC236}">
                <a16:creationId xmlns:a16="http://schemas.microsoft.com/office/drawing/2014/main" id="{AB4B6E47-B5D3-CE4B-89DB-4642D5792E4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7317"/>
            <a:ext cx="9950658" cy="3912487"/>
          </a:xfrm>
          <a:prstGeom prst="rect">
            <a:avLst/>
          </a:prstGeom>
        </p:spPr>
      </p:pic>
      <p:sp>
        <p:nvSpPr>
          <p:cNvPr id="6" name="Rechthoek 5">
            <a:extLst>
              <a:ext uri="{FF2B5EF4-FFF2-40B4-BE49-F238E27FC236}">
                <a16:creationId xmlns:a16="http://schemas.microsoft.com/office/drawing/2014/main" id="{533F3BD2-EFF7-9E44-B6B5-96CE2158B111}"/>
              </a:ext>
            </a:extLst>
          </p:cNvPr>
          <p:cNvSpPr/>
          <p:nvPr userDrawn="1"/>
        </p:nvSpPr>
        <p:spPr>
          <a:xfrm>
            <a:off x="9950658" y="-834"/>
            <a:ext cx="10027367" cy="384494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trike="sngStrike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9DC6BDAC-A25B-AD43-ABA0-429F1CC5F10D}"/>
              </a:ext>
            </a:extLst>
          </p:cNvPr>
          <p:cNvSpPr/>
          <p:nvPr userDrawn="1"/>
        </p:nvSpPr>
        <p:spPr>
          <a:xfrm>
            <a:off x="0" y="40992026"/>
            <a:ext cx="30267672" cy="1819674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77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2270089" rtl="0" eaLnBrk="1" latinLnBrk="0" hangingPunct="1">
        <a:spcBef>
          <a:spcPct val="0"/>
        </a:spcBef>
        <a:buNone/>
        <a:defRPr sz="5213" b="0" i="0" kern="1200">
          <a:solidFill>
            <a:schemeClr val="tx1"/>
          </a:solidFill>
          <a:latin typeface="Merriweather Regular" panose="02060503050406030704" pitchFamily="18" charset="77"/>
          <a:ea typeface="+mj-ea"/>
          <a:cs typeface="+mj-cs"/>
        </a:defRPr>
      </a:lvl1pPr>
    </p:titleStyle>
    <p:bodyStyle>
      <a:lvl1pPr marL="0" indent="0" algn="l" defTabSz="2270089" rtl="0" eaLnBrk="1" latinLnBrk="0" hangingPunct="1">
        <a:lnSpc>
          <a:spcPct val="110000"/>
        </a:lnSpc>
        <a:spcBef>
          <a:spcPts val="0"/>
        </a:spcBef>
        <a:buFont typeface="Arial" pitchFamily="34" charset="0"/>
        <a:buNone/>
        <a:defRPr sz="3972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0" indent="0" algn="l" defTabSz="2270089" rtl="0" eaLnBrk="1" latinLnBrk="0" hangingPunct="1">
        <a:lnSpc>
          <a:spcPct val="110000"/>
        </a:lnSpc>
        <a:spcBef>
          <a:spcPts val="0"/>
        </a:spcBef>
        <a:buFont typeface="Arial" pitchFamily="34" charset="0"/>
        <a:buNone/>
        <a:defRPr sz="3972" b="1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670302" indent="-670302" algn="l" defTabSz="2270089" rtl="0" eaLnBrk="1" latinLnBrk="0" hangingPunct="1">
        <a:lnSpc>
          <a:spcPct val="110000"/>
        </a:lnSpc>
        <a:spcBef>
          <a:spcPts val="5213"/>
        </a:spcBef>
        <a:buFont typeface="Verdana" pitchFamily="34" charset="0"/>
        <a:buChar char="•"/>
        <a:defRPr sz="3972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670302" indent="-670302" algn="l" defTabSz="2270089" rtl="0" eaLnBrk="1" latinLnBrk="0" hangingPunct="1">
        <a:lnSpc>
          <a:spcPct val="110000"/>
        </a:lnSpc>
        <a:spcBef>
          <a:spcPts val="5213"/>
        </a:spcBef>
        <a:buFont typeface="Verdana" pitchFamily="34" charset="0"/>
        <a:buChar char="•"/>
        <a:defRPr sz="3972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10906" indent="-670302" algn="l" defTabSz="2270089" rtl="0" eaLnBrk="1" latinLnBrk="0" hangingPunct="1">
        <a:lnSpc>
          <a:spcPct val="110000"/>
        </a:lnSpc>
        <a:spcBef>
          <a:spcPts val="0"/>
        </a:spcBef>
        <a:buFont typeface="Verdana" pitchFamily="34" charset="0"/>
        <a:buChar char="–"/>
        <a:defRPr sz="3972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6242746" indent="-567522" algn="l" defTabSz="2270089" rtl="0" eaLnBrk="1" latinLnBrk="0" hangingPunct="1">
        <a:spcBef>
          <a:spcPct val="20000"/>
        </a:spcBef>
        <a:buFont typeface="Arial" pitchFamily="34" charset="0"/>
        <a:buChar char="•"/>
        <a:defRPr sz="4965" kern="1200">
          <a:solidFill>
            <a:schemeClr val="tx1"/>
          </a:solidFill>
          <a:latin typeface="+mn-lt"/>
          <a:ea typeface="+mn-ea"/>
          <a:cs typeface="+mn-cs"/>
        </a:defRPr>
      </a:lvl6pPr>
      <a:lvl7pPr marL="7377791" indent="-567522" algn="l" defTabSz="2270089" rtl="0" eaLnBrk="1" latinLnBrk="0" hangingPunct="1">
        <a:spcBef>
          <a:spcPct val="20000"/>
        </a:spcBef>
        <a:buFont typeface="Arial" pitchFamily="34" charset="0"/>
        <a:buChar char="•"/>
        <a:defRPr sz="4965" kern="1200">
          <a:solidFill>
            <a:schemeClr val="tx1"/>
          </a:solidFill>
          <a:latin typeface="+mn-lt"/>
          <a:ea typeface="+mn-ea"/>
          <a:cs typeface="+mn-cs"/>
        </a:defRPr>
      </a:lvl7pPr>
      <a:lvl8pPr marL="8512835" indent="-567522" algn="l" defTabSz="2270089" rtl="0" eaLnBrk="1" latinLnBrk="0" hangingPunct="1">
        <a:spcBef>
          <a:spcPct val="20000"/>
        </a:spcBef>
        <a:buFont typeface="Arial" pitchFamily="34" charset="0"/>
        <a:buChar char="•"/>
        <a:defRPr sz="4965" kern="1200">
          <a:solidFill>
            <a:schemeClr val="tx1"/>
          </a:solidFill>
          <a:latin typeface="+mn-lt"/>
          <a:ea typeface="+mn-ea"/>
          <a:cs typeface="+mn-cs"/>
        </a:defRPr>
      </a:lvl8pPr>
      <a:lvl9pPr marL="9647880" indent="-567522" algn="l" defTabSz="2270089" rtl="0" eaLnBrk="1" latinLnBrk="0" hangingPunct="1">
        <a:spcBef>
          <a:spcPct val="20000"/>
        </a:spcBef>
        <a:buFont typeface="Arial" pitchFamily="34" charset="0"/>
        <a:buChar char="•"/>
        <a:defRPr sz="49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2270089" rtl="0" eaLnBrk="1" latinLnBrk="0" hangingPunct="1">
        <a:defRPr sz="4469" kern="1200">
          <a:solidFill>
            <a:schemeClr val="tx1"/>
          </a:solidFill>
          <a:latin typeface="+mn-lt"/>
          <a:ea typeface="+mn-ea"/>
          <a:cs typeface="+mn-cs"/>
        </a:defRPr>
      </a:lvl1pPr>
      <a:lvl2pPr marL="1135045" algn="l" defTabSz="2270089" rtl="0" eaLnBrk="1" latinLnBrk="0" hangingPunct="1">
        <a:defRPr sz="4469" kern="1200">
          <a:solidFill>
            <a:schemeClr val="tx1"/>
          </a:solidFill>
          <a:latin typeface="+mn-lt"/>
          <a:ea typeface="+mn-ea"/>
          <a:cs typeface="+mn-cs"/>
        </a:defRPr>
      </a:lvl2pPr>
      <a:lvl3pPr marL="2270089" algn="l" defTabSz="2270089" rtl="0" eaLnBrk="1" latinLnBrk="0" hangingPunct="1">
        <a:defRPr sz="4469" kern="1200">
          <a:solidFill>
            <a:schemeClr val="tx1"/>
          </a:solidFill>
          <a:latin typeface="+mn-lt"/>
          <a:ea typeface="+mn-ea"/>
          <a:cs typeface="+mn-cs"/>
        </a:defRPr>
      </a:lvl3pPr>
      <a:lvl4pPr marL="3405134" algn="l" defTabSz="2270089" rtl="0" eaLnBrk="1" latinLnBrk="0" hangingPunct="1">
        <a:defRPr sz="4469" kern="1200">
          <a:solidFill>
            <a:schemeClr val="tx1"/>
          </a:solidFill>
          <a:latin typeface="+mn-lt"/>
          <a:ea typeface="+mn-ea"/>
          <a:cs typeface="+mn-cs"/>
        </a:defRPr>
      </a:lvl4pPr>
      <a:lvl5pPr marL="4540179" algn="l" defTabSz="2270089" rtl="0" eaLnBrk="1" latinLnBrk="0" hangingPunct="1">
        <a:defRPr sz="4469" kern="1200">
          <a:solidFill>
            <a:schemeClr val="tx1"/>
          </a:solidFill>
          <a:latin typeface="+mn-lt"/>
          <a:ea typeface="+mn-ea"/>
          <a:cs typeface="+mn-cs"/>
        </a:defRPr>
      </a:lvl5pPr>
      <a:lvl6pPr marL="5675224" algn="l" defTabSz="2270089" rtl="0" eaLnBrk="1" latinLnBrk="0" hangingPunct="1">
        <a:defRPr sz="4469" kern="1200">
          <a:solidFill>
            <a:schemeClr val="tx1"/>
          </a:solidFill>
          <a:latin typeface="+mn-lt"/>
          <a:ea typeface="+mn-ea"/>
          <a:cs typeface="+mn-cs"/>
        </a:defRPr>
      </a:lvl6pPr>
      <a:lvl7pPr marL="6810268" algn="l" defTabSz="2270089" rtl="0" eaLnBrk="1" latinLnBrk="0" hangingPunct="1">
        <a:defRPr sz="4469" kern="1200">
          <a:solidFill>
            <a:schemeClr val="tx1"/>
          </a:solidFill>
          <a:latin typeface="+mn-lt"/>
          <a:ea typeface="+mn-ea"/>
          <a:cs typeface="+mn-cs"/>
        </a:defRPr>
      </a:lvl7pPr>
      <a:lvl8pPr marL="7945313" algn="l" defTabSz="2270089" rtl="0" eaLnBrk="1" latinLnBrk="0" hangingPunct="1">
        <a:defRPr sz="4469" kern="1200">
          <a:solidFill>
            <a:schemeClr val="tx1"/>
          </a:solidFill>
          <a:latin typeface="+mn-lt"/>
          <a:ea typeface="+mn-ea"/>
          <a:cs typeface="+mn-cs"/>
        </a:defRPr>
      </a:lvl8pPr>
      <a:lvl9pPr marL="9080358" algn="l" defTabSz="2270089" rtl="0" eaLnBrk="1" latinLnBrk="0" hangingPunct="1">
        <a:defRPr sz="44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44">
            <a:extLst>
              <a:ext uri="{FF2B5EF4-FFF2-40B4-BE49-F238E27FC236}">
                <a16:creationId xmlns:a16="http://schemas.microsoft.com/office/drawing/2014/main" id="{15810CFF-76B2-2C70-4FA2-0A3E311E9E80}"/>
              </a:ext>
            </a:extLst>
          </p:cNvPr>
          <p:cNvSpPr/>
          <p:nvPr/>
        </p:nvSpPr>
        <p:spPr>
          <a:xfrm>
            <a:off x="1432166" y="35457157"/>
            <a:ext cx="8565405" cy="263032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8" name="Rechthoek 44">
            <a:extLst>
              <a:ext uri="{FF2B5EF4-FFF2-40B4-BE49-F238E27FC236}">
                <a16:creationId xmlns:a16="http://schemas.microsoft.com/office/drawing/2014/main" id="{1C368264-7B52-039E-AC32-A27FEF24D7FB}"/>
              </a:ext>
            </a:extLst>
          </p:cNvPr>
          <p:cNvSpPr/>
          <p:nvPr/>
        </p:nvSpPr>
        <p:spPr>
          <a:xfrm>
            <a:off x="10819385" y="30832036"/>
            <a:ext cx="8565405" cy="1774801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74" name="Afbeelding 73" descr="Schermafbeelding 2013-07-19 om 15.32.0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9294" y="35697026"/>
            <a:ext cx="1102326" cy="1143153"/>
          </a:xfrm>
          <a:prstGeom prst="rect">
            <a:avLst/>
          </a:prstGeom>
        </p:spPr>
      </p:pic>
      <p:sp>
        <p:nvSpPr>
          <p:cNvPr id="38" name="Tekstvak 37">
            <a:extLst>
              <a:ext uri="{FF2B5EF4-FFF2-40B4-BE49-F238E27FC236}">
                <a16:creationId xmlns:a16="http://schemas.microsoft.com/office/drawing/2014/main" id="{9722A7C8-C6E5-3F4D-92B6-754BC81CDDC5}"/>
              </a:ext>
            </a:extLst>
          </p:cNvPr>
          <p:cNvSpPr txBox="1">
            <a:spLocks/>
          </p:cNvSpPr>
          <p:nvPr/>
        </p:nvSpPr>
        <p:spPr>
          <a:xfrm>
            <a:off x="1526115" y="6068147"/>
            <a:ext cx="27177098" cy="21981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600"/>
              </a:lnSpc>
            </a:pPr>
            <a:r>
              <a:rPr lang="en-GB" sz="7000" b="1" noProof="0" dirty="0">
                <a:latin typeface="Merriweather" pitchFamily="2" charset="77"/>
                <a:cs typeface="Verdana"/>
              </a:rPr>
              <a:t>When Is Dyadic Transformation Reliable? </a:t>
            </a:r>
          </a:p>
          <a:p>
            <a:pPr>
              <a:lnSpc>
                <a:spcPts val="7600"/>
              </a:lnSpc>
            </a:pPr>
            <a:r>
              <a:rPr lang="en-GB" sz="5400" b="1" noProof="0" dirty="0">
                <a:latin typeface="Merriweather" pitchFamily="2" charset="77"/>
                <a:cs typeface="Verdana"/>
              </a:rPr>
              <a:t>A Threshold for Relational Event Models with Multi-Receiver Events</a:t>
            </a:r>
            <a:endParaRPr lang="en-GB" sz="5000" noProof="0" dirty="0">
              <a:latin typeface="Merriweather" pitchFamily="2" charset="77"/>
              <a:cs typeface="Verdana"/>
            </a:endParaRPr>
          </a:p>
        </p:txBody>
      </p:sp>
      <p:cxnSp>
        <p:nvCxnSpPr>
          <p:cNvPr id="39" name="Rechte verbindingslijn 38">
            <a:extLst>
              <a:ext uri="{FF2B5EF4-FFF2-40B4-BE49-F238E27FC236}">
                <a16:creationId xmlns:a16="http://schemas.microsoft.com/office/drawing/2014/main" id="{101778CA-EE18-3F4C-959A-801EFE65841A}"/>
              </a:ext>
            </a:extLst>
          </p:cNvPr>
          <p:cNvCxnSpPr/>
          <p:nvPr/>
        </p:nvCxnSpPr>
        <p:spPr>
          <a:xfrm flipV="1">
            <a:off x="1456088" y="9884569"/>
            <a:ext cx="27579062" cy="1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ubtitel 2">
            <a:extLst>
              <a:ext uri="{FF2B5EF4-FFF2-40B4-BE49-F238E27FC236}">
                <a16:creationId xmlns:a16="http://schemas.microsoft.com/office/drawing/2014/main" id="{1803F8D0-7ED6-C94E-97E9-09A775915736}"/>
              </a:ext>
            </a:extLst>
          </p:cNvPr>
          <p:cNvSpPr txBox="1">
            <a:spLocks/>
          </p:cNvSpPr>
          <p:nvPr/>
        </p:nvSpPr>
        <p:spPr>
          <a:xfrm>
            <a:off x="1456088" y="38869395"/>
            <a:ext cx="8685130" cy="1175283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GB" sz="2000" b="1" noProof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References</a:t>
            </a:r>
          </a:p>
          <a:p>
            <a:pPr marL="342900" indent="-342900" algn="l">
              <a:lnSpc>
                <a:spcPts val="2400"/>
              </a:lnSpc>
              <a:buAutoNum type="arabicPeriod"/>
            </a:pPr>
            <a:r>
              <a:rPr lang="en-US" sz="2000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Butts, C. T. (2008). A relational event framework for social action. Sociological Methodology, 38(1), 155–200.</a:t>
            </a:r>
          </a:p>
          <a:p>
            <a:pPr marL="342900" indent="-342900" algn="l">
              <a:lnSpc>
                <a:spcPts val="2400"/>
              </a:lnSpc>
              <a:buAutoNum type="arabicPeriod"/>
            </a:pPr>
            <a:r>
              <a:rPr lang="en-US" sz="2000" b="1" noProof="0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Lakdawala, R., Mulder, J., &amp; Leenders, R. (2025). Simulating relational event history data: Why and how. Journal of Computational Social Science, 8, 92.</a:t>
            </a:r>
            <a:endParaRPr lang="en-GB" sz="2000" b="1" noProof="0" dirty="0">
              <a:solidFill>
                <a:srgbClr val="0F1012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D905E6AD-FEA8-E048-8813-F3F8148C30C8}"/>
              </a:ext>
            </a:extLst>
          </p:cNvPr>
          <p:cNvCxnSpPr/>
          <p:nvPr/>
        </p:nvCxnSpPr>
        <p:spPr>
          <a:xfrm>
            <a:off x="1456088" y="38543754"/>
            <a:ext cx="27435049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kstvak 50">
            <a:extLst>
              <a:ext uri="{FF2B5EF4-FFF2-40B4-BE49-F238E27FC236}">
                <a16:creationId xmlns:a16="http://schemas.microsoft.com/office/drawing/2014/main" id="{2E342441-D5FD-5545-AF7B-F8CD4E455EFA}"/>
              </a:ext>
            </a:extLst>
          </p:cNvPr>
          <p:cNvSpPr txBox="1"/>
          <p:nvPr/>
        </p:nvSpPr>
        <p:spPr>
          <a:xfrm>
            <a:off x="1387626" y="10817244"/>
            <a:ext cx="8565404" cy="2594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GB" sz="3000" b="1" noProof="0" dirty="0">
                <a:latin typeface="Merriweather" pitchFamily="2" charset="77"/>
              </a:rPr>
              <a:t>Introduction</a:t>
            </a:r>
          </a:p>
          <a:p>
            <a:pPr>
              <a:lnSpc>
                <a:spcPts val="3600"/>
              </a:lnSpc>
            </a:pPr>
            <a:endParaRPr lang="en-GB" sz="3000" b="1" noProof="0" dirty="0">
              <a:latin typeface="Merriweather" pitchFamily="2" charset="77"/>
            </a:endParaRPr>
          </a:p>
          <a:p>
            <a:pPr>
              <a:lnSpc>
                <a:spcPts val="3600"/>
              </a:lnSpc>
            </a:pPr>
            <a:r>
              <a:rPr lang="en-GB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Relational events </a:t>
            </a: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are everywhere: conversations, messages, meetings – each with a </a:t>
            </a:r>
            <a:r>
              <a:rPr lang="en-GB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who</a:t>
            </a: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 </a:t>
            </a:r>
            <a:r>
              <a:rPr lang="en-GB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to-whom</a:t>
            </a: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and a </a:t>
            </a:r>
            <a:r>
              <a:rPr lang="en-GB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when</a:t>
            </a: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this thesis, we look at </a:t>
            </a:r>
            <a:r>
              <a:rPr lang="en-GB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Relational Event History (REH)</a:t>
            </a: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 form of data recording these events, with three columns: </a:t>
            </a: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lnSpc>
                <a:spcPts val="3600"/>
              </a:lnSpc>
              <a:buFont typeface="Arial" panose="020B0604020202020204" pitchFamily="34" charset="0"/>
              <a:buChar char="•"/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lnSpc>
                <a:spcPts val="3600"/>
              </a:lnSpc>
              <a:buFont typeface="Arial" panose="020B0604020202020204" pitchFamily="34" charset="0"/>
              <a:buChar char="•"/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lnSpc>
                <a:spcPts val="3600"/>
              </a:lnSpc>
              <a:buFont typeface="Arial" panose="020B0604020202020204" pitchFamily="34" charset="0"/>
              <a:buChar char="•"/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lnSpc>
                <a:spcPts val="3600"/>
              </a:lnSpc>
              <a:buFont typeface="Arial" panose="020B0604020202020204" pitchFamily="34" charset="0"/>
              <a:buChar char="•"/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lnSpc>
                <a:spcPts val="3600"/>
              </a:lnSpc>
              <a:buFont typeface="Arial" panose="020B0604020202020204" pitchFamily="34" charset="0"/>
              <a:buChar char="•"/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lnSpc>
                <a:spcPts val="3600"/>
              </a:lnSpc>
              <a:buFont typeface="Arial" panose="020B0604020202020204" pitchFamily="34" charset="0"/>
              <a:buChar char="•"/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GB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dyadic</a:t>
            </a: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event is one interaction between exactly </a:t>
            </a:r>
            <a:r>
              <a:rPr lang="en-GB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 sender</a:t>
            </a: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n-GB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 receiver </a:t>
            </a: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</a:t>
            </a:r>
            <a:r>
              <a:rPr lang="en-GB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 time </a:t>
            </a: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— like a direct message to one person, not a group email.</a:t>
            </a: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GB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Relational Event Model (REM) </a:t>
            </a: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(Butts, 2008) is the standard tool for this kind of data, but it requires </a:t>
            </a:r>
            <a:r>
              <a:rPr lang="en-GB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 receiver and one unique timestamp per row</a:t>
            </a: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Many real events have </a:t>
            </a:r>
            <a:r>
              <a:rPr lang="en-GB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several receivers at once </a:t>
            </a: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(e.g. one email to multiple people). Analysts often </a:t>
            </a:r>
            <a:r>
              <a:rPr lang="en-GB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split</a:t>
            </a: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each such event into </a:t>
            </a:r>
            <a:r>
              <a:rPr lang="en-GB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 row per receiver </a:t>
            </a: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 REM can run. On corporate email data such as Enron, about 31% of messages had multiple recipients — and that is considered low for organisational email (Mulder &amp; Hoff, 2024).</a:t>
            </a: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lnSpc>
                <a:spcPts val="3600"/>
              </a:lnSpc>
              <a:buFont typeface="Arial" panose="020B0604020202020204" pitchFamily="34" charset="0"/>
              <a:buChar char="•"/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lnSpc>
                <a:spcPts val="3600"/>
              </a:lnSpc>
              <a:buFont typeface="Arial" panose="020B0604020202020204" pitchFamily="34" charset="0"/>
              <a:buChar char="•"/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That split creates </a:t>
            </a:r>
            <a:r>
              <a:rPr lang="en-GB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duplicate timestamps </a:t>
            </a: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(Table 2) — the problem this thesis quantifies.</a:t>
            </a: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4" name="Tekstvak 53">
            <a:extLst>
              <a:ext uri="{FF2B5EF4-FFF2-40B4-BE49-F238E27FC236}">
                <a16:creationId xmlns:a16="http://schemas.microsoft.com/office/drawing/2014/main" id="{18EE791D-FF38-C243-987D-0BEF91FF79A3}"/>
              </a:ext>
            </a:extLst>
          </p:cNvPr>
          <p:cNvSpPr txBox="1"/>
          <p:nvPr/>
        </p:nvSpPr>
        <p:spPr>
          <a:xfrm>
            <a:off x="9953030" y="1195410"/>
            <a:ext cx="10156459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3600" noProof="0" dirty="0">
                <a:latin typeface="Merriweather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MSc - Applied Data Science</a:t>
            </a:r>
          </a:p>
          <a:p>
            <a:pPr algn="ctr"/>
            <a:endParaRPr lang="en-GB" sz="3600" dirty="0">
              <a:latin typeface="Merriweather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GB" sz="3600" dirty="0">
                <a:latin typeface="Merriweather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Gabriel Silva Cheinquer</a:t>
            </a:r>
            <a:endParaRPr lang="en-GB" sz="3600" noProof="0" dirty="0">
              <a:latin typeface="Merriweather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5" name="Tekstvak 54">
            <a:extLst>
              <a:ext uri="{FF2B5EF4-FFF2-40B4-BE49-F238E27FC236}">
                <a16:creationId xmlns:a16="http://schemas.microsoft.com/office/drawing/2014/main" id="{A4964323-808B-1345-AC7D-222A69D20FB3}"/>
              </a:ext>
            </a:extLst>
          </p:cNvPr>
          <p:cNvSpPr txBox="1">
            <a:spLocks/>
          </p:cNvSpPr>
          <p:nvPr/>
        </p:nvSpPr>
        <p:spPr>
          <a:xfrm>
            <a:off x="1569217" y="8692098"/>
            <a:ext cx="27177098" cy="9735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3600"/>
              </a:lnSpc>
            </a:pPr>
            <a:r>
              <a:rPr lang="en-GB" sz="4000" b="1" noProof="0" dirty="0">
                <a:solidFill>
                  <a:srgbClr val="000000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Supervisors: Mahdi Shafiee Kamalabad; Myrthe Prins</a:t>
            </a:r>
          </a:p>
        </p:txBody>
      </p:sp>
      <p:sp>
        <p:nvSpPr>
          <p:cNvPr id="56" name="Subtitel 2">
            <a:extLst>
              <a:ext uri="{FF2B5EF4-FFF2-40B4-BE49-F238E27FC236}">
                <a16:creationId xmlns:a16="http://schemas.microsoft.com/office/drawing/2014/main" id="{105E345D-E29F-9A49-9A3A-4039A1C01D09}"/>
              </a:ext>
            </a:extLst>
          </p:cNvPr>
          <p:cNvSpPr txBox="1">
            <a:spLocks/>
          </p:cNvSpPr>
          <p:nvPr/>
        </p:nvSpPr>
        <p:spPr>
          <a:xfrm>
            <a:off x="15295509" y="38869394"/>
            <a:ext cx="8685130" cy="1175283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GB" sz="2000" b="1" noProof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References</a:t>
            </a:r>
          </a:p>
          <a:p>
            <a:pPr marL="342900" indent="-342900" algn="l">
              <a:lnSpc>
                <a:spcPts val="2400"/>
              </a:lnSpc>
              <a:buAutoNum type="arabicPeriod"/>
            </a:pPr>
            <a:r>
              <a:rPr lang="en-US" sz="2000" b="1" noProof="0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Lerner, J., &amp; Lomi, A. (2023). Relational hyperevent models for polyadic interaction networks. Journal of the Royal Statistical Society: Series A, 186(3), 577–600.</a:t>
            </a:r>
          </a:p>
          <a:p>
            <a:pPr marL="342900" indent="-342900" algn="l">
              <a:lnSpc>
                <a:spcPts val="2400"/>
              </a:lnSpc>
              <a:buAutoNum type="arabicPeriod"/>
            </a:pPr>
            <a:r>
              <a:rPr lang="en-US" sz="2000" b="1" noProof="0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Mulder, J., &amp; Hoff, P. (2024). A latent variable approach for modeling relational data with multiple receivers.</a:t>
            </a:r>
            <a:endParaRPr lang="en-GB" sz="2000" b="1" noProof="0" dirty="0">
              <a:solidFill>
                <a:srgbClr val="0F1012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57" name="Tekstvak 56">
            <a:extLst>
              <a:ext uri="{FF2B5EF4-FFF2-40B4-BE49-F238E27FC236}">
                <a16:creationId xmlns:a16="http://schemas.microsoft.com/office/drawing/2014/main" id="{E108BEF3-1FAD-CD47-AD10-993910657BF9}"/>
              </a:ext>
            </a:extLst>
          </p:cNvPr>
          <p:cNvSpPr txBox="1"/>
          <p:nvPr/>
        </p:nvSpPr>
        <p:spPr>
          <a:xfrm>
            <a:off x="1326316" y="32282194"/>
            <a:ext cx="856540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GB" sz="3000" b="1" noProof="0" dirty="0">
                <a:latin typeface="Merriweather" pitchFamily="2" charset="77"/>
              </a:rPr>
              <a:t>Transformation</a:t>
            </a:r>
          </a:p>
          <a:p>
            <a:pPr marL="457200" indent="-457200">
              <a:lnSpc>
                <a:spcPts val="3600"/>
              </a:lnSpc>
              <a:buFont typeface="Arial" panose="020B0604020202020204" pitchFamily="34" charset="0"/>
              <a:buChar char="•"/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thesis applies </a:t>
            </a:r>
            <a:r>
              <a:rPr lang="en-GB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tie-breaking timestamp noise</a:t>
            </a: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tiny random delays on duplicate rows only, </a:t>
            </a:r>
            <a:r>
              <a:rPr lang="en-GB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limited</a:t>
            </a: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so the overall order of events is unchanged. </a:t>
            </a: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8" name="Tekstvak 57">
            <a:extLst>
              <a:ext uri="{FF2B5EF4-FFF2-40B4-BE49-F238E27FC236}">
                <a16:creationId xmlns:a16="http://schemas.microsoft.com/office/drawing/2014/main" id="{DF414639-8C4C-2A40-A67A-A34FAFC652C3}"/>
              </a:ext>
            </a:extLst>
          </p:cNvPr>
          <p:cNvSpPr txBox="1"/>
          <p:nvPr/>
        </p:nvSpPr>
        <p:spPr>
          <a:xfrm>
            <a:off x="20469746" y="10817244"/>
            <a:ext cx="8781428" cy="19020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GB" sz="3000" b="1" noProof="0" dirty="0">
                <a:latin typeface="Merriweather" pitchFamily="2" charset="77"/>
              </a:rPr>
              <a:t>Results</a:t>
            </a:r>
          </a:p>
          <a:p>
            <a:pPr>
              <a:lnSpc>
                <a:spcPts val="3600"/>
              </a:lnSpc>
            </a:pPr>
            <a:endParaRPr lang="en-GB" sz="3000" b="1" noProof="0" dirty="0">
              <a:latin typeface="Merriweather" pitchFamily="2" charset="77"/>
            </a:endParaRPr>
          </a:p>
          <a:p>
            <a:pPr>
              <a:lnSpc>
                <a:spcPts val="3600"/>
              </a:lnSpc>
            </a:pPr>
            <a:r>
              <a:rPr lang="en-US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Dataset-averaged over </a:t>
            </a:r>
            <a:r>
              <a:rPr lang="en-US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28</a:t>
            </a:r>
            <a:r>
              <a:rPr lang="en-US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simulations: dyadic REM with tie-breaking noise recovers all five effects within tolerance through </a:t>
            </a:r>
            <a:r>
              <a:rPr lang="en-US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8%</a:t>
            </a:r>
            <a:r>
              <a:rPr lang="en-US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multi-receiver share; recovery breaks down by </a:t>
            </a:r>
            <a:r>
              <a:rPr lang="en-US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16% (outgoing two-paths first)</a:t>
            </a:r>
            <a:r>
              <a:rPr lang="en-US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>
              <a:lnSpc>
                <a:spcPts val="3600"/>
              </a:lnSpc>
            </a:pPr>
            <a:endParaRPr lang="en-US" sz="300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US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US" sz="300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lnSpc>
                <a:spcPts val="3600"/>
              </a:lnSpc>
              <a:buFont typeface="Arial" panose="020B0604020202020204" pitchFamily="34" charset="0"/>
              <a:buChar char="•"/>
            </a:pPr>
            <a:endParaRPr lang="en-GB" sz="300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lnSpc>
                <a:spcPts val="3600"/>
              </a:lnSpc>
              <a:buFont typeface="Arial" panose="020B0604020202020204" pitchFamily="34" charset="0"/>
              <a:buChar char="•"/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r>
              <a:rPr lang="en-US" sz="3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multi-receiver shares </a:t>
            </a:r>
            <a:r>
              <a:rPr lang="en-US" sz="3000" b="1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above ~12%</a:t>
            </a:r>
            <a:r>
              <a:rPr lang="en-US" sz="3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prefer a </a:t>
            </a:r>
            <a:r>
              <a:rPr lang="en-US" sz="3000" b="1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native multi-receiver model </a:t>
            </a:r>
            <a:r>
              <a:rPr lang="en-US" sz="3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(e.g. RHEM; Lerner &amp; Lomi, 2023) or another polyadic estimator — not dyadic splitting alone.</a:t>
            </a:r>
            <a:endParaRPr lang="en-GB" sz="300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r>
              <a:rPr lang="en-US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Reading Figure 1. </a:t>
            </a:r>
            <a:r>
              <a:rPr lang="en-US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line tracks one effect from </a:t>
            </a:r>
            <a:r>
              <a:rPr lang="en-US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Table 3</a:t>
            </a:r>
            <a:r>
              <a:rPr lang="en-US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The y-axis is </a:t>
            </a:r>
            <a:r>
              <a:rPr lang="en-US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|bias| / band </a:t>
            </a:r>
            <a:r>
              <a:rPr lang="en-US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(1.0 = acceptable edge; shaded area = fail), so </a:t>
            </a:r>
            <a:r>
              <a:rPr lang="en-US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rising lines mean worse recovery</a:t>
            </a:r>
            <a:r>
              <a:rPr lang="en-US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All lines stay below 1.0 through </a:t>
            </a:r>
            <a:r>
              <a:rPr lang="en-US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8% multi-receiver share</a:t>
            </a:r>
            <a:r>
              <a:rPr lang="en-US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OTP</a:t>
            </a:r>
            <a:r>
              <a:rPr lang="en-US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crosses first at 16%; </a:t>
            </a:r>
            <a:r>
              <a:rPr lang="en-US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Same (group) </a:t>
            </a:r>
            <a:r>
              <a:rPr lang="en-US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follows. At </a:t>
            </a:r>
            <a:r>
              <a:rPr lang="en-US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12%</a:t>
            </a:r>
            <a:r>
              <a:rPr lang="en-US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OTP is at </a:t>
            </a:r>
            <a:r>
              <a:rPr lang="en-US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~95% </a:t>
            </a:r>
            <a:r>
              <a:rPr lang="en-US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its band — the </a:t>
            </a:r>
            <a:r>
              <a:rPr lang="en-US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borderline</a:t>
            </a:r>
            <a:r>
              <a:rPr lang="en-US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zone in Table 5.</a:t>
            </a:r>
          </a:p>
          <a:p>
            <a:pPr>
              <a:lnSpc>
                <a:spcPts val="3600"/>
              </a:lnSpc>
            </a:pPr>
            <a:endParaRPr lang="en-GB" sz="300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r>
              <a:rPr lang="en-US" sz="3000" b="1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this matters</a:t>
            </a:r>
          </a:p>
          <a:p>
            <a:pPr>
              <a:lnSpc>
                <a:spcPts val="3600"/>
              </a:lnSpc>
            </a:pPr>
            <a:r>
              <a:rPr lang="en-US" sz="3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Enron corporate email: </a:t>
            </a:r>
            <a:r>
              <a:rPr lang="en-US" sz="3000" b="1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~31% </a:t>
            </a:r>
            <a:r>
              <a:rPr lang="en-US" sz="3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messages had multiple recipients — considered low for </a:t>
            </a:r>
            <a:r>
              <a:rPr lang="en-GB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organisational email </a:t>
            </a:r>
            <a:r>
              <a:rPr lang="en-US" sz="3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(Mulder &amp; Hoff, 2024). A guardrail of </a:t>
            </a:r>
            <a:r>
              <a:rPr lang="en-US" sz="3000" b="1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~8–12% </a:t>
            </a:r>
            <a:r>
              <a:rPr lang="en-US" sz="3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sits </a:t>
            </a:r>
            <a:r>
              <a:rPr lang="en-US" sz="3000" b="1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well below </a:t>
            </a:r>
            <a:r>
              <a:rPr lang="en-US" sz="3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shares common in real communication data.</a:t>
            </a:r>
            <a:endParaRPr lang="en-GB" sz="300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r>
              <a:rPr lang="en-US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Scope:</a:t>
            </a:r>
            <a:r>
              <a:rPr lang="en-US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Synthetic data only; 20 actors, 2,000 events; random multi-receiver tagging (extra receivers carry no signal); threshold from grid </a:t>
            </a:r>
            <a:r>
              <a:rPr lang="en-US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{0, 2, 8, 16, 24%} </a:t>
            </a:r>
            <a:r>
              <a:rPr lang="en-US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(+ 12% to locate crossing). Structured email lists (fixed CC groups) may behave differently.</a:t>
            </a: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9" name="Tekstvak 58">
            <a:extLst>
              <a:ext uri="{FF2B5EF4-FFF2-40B4-BE49-F238E27FC236}">
                <a16:creationId xmlns:a16="http://schemas.microsoft.com/office/drawing/2014/main" id="{F49D909F-42F7-0648-AA5E-4B62B4C33843}"/>
              </a:ext>
            </a:extLst>
          </p:cNvPr>
          <p:cNvSpPr txBox="1">
            <a:spLocks/>
          </p:cNvSpPr>
          <p:nvPr/>
        </p:nvSpPr>
        <p:spPr>
          <a:xfrm>
            <a:off x="1387626" y="41630352"/>
            <a:ext cx="27177098" cy="7298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3600"/>
              </a:lnSpc>
            </a:pPr>
            <a:r>
              <a:rPr lang="en-GB" sz="5000" b="1" noProof="0" dirty="0">
                <a:solidFill>
                  <a:srgbClr val="000000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uu.nl/</a:t>
            </a:r>
          </a:p>
        </p:txBody>
      </p:sp>
      <p:sp>
        <p:nvSpPr>
          <p:cNvPr id="60" name="Rechthoek 59">
            <a:extLst>
              <a:ext uri="{FF2B5EF4-FFF2-40B4-BE49-F238E27FC236}">
                <a16:creationId xmlns:a16="http://schemas.microsoft.com/office/drawing/2014/main" id="{4BE76C16-EB21-5E42-A96A-AB333F3F54BD}"/>
              </a:ext>
            </a:extLst>
          </p:cNvPr>
          <p:cNvSpPr/>
          <p:nvPr/>
        </p:nvSpPr>
        <p:spPr>
          <a:xfrm>
            <a:off x="1387626" y="42289253"/>
            <a:ext cx="15135225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00" i="1" noProof="0" dirty="0">
                <a:latin typeface="Open Sans" panose="020B0606030504020204" pitchFamily="34" charset="0"/>
              </a:rPr>
              <a:t>The information has been compiled with the utmost care but no rights can be derived from its contents.</a:t>
            </a:r>
          </a:p>
        </p:txBody>
      </p:sp>
      <p:sp>
        <p:nvSpPr>
          <p:cNvPr id="45" name="Rechthoek 44">
            <a:extLst>
              <a:ext uri="{FF2B5EF4-FFF2-40B4-BE49-F238E27FC236}">
                <a16:creationId xmlns:a16="http://schemas.microsoft.com/office/drawing/2014/main" id="{B15C782D-310C-0D46-8239-DB6C828F7FD6}"/>
              </a:ext>
            </a:extLst>
          </p:cNvPr>
          <p:cNvSpPr/>
          <p:nvPr/>
        </p:nvSpPr>
        <p:spPr>
          <a:xfrm>
            <a:off x="1395787" y="14985186"/>
            <a:ext cx="8565405" cy="3323987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0" name="Subtitel 2">
            <a:extLst>
              <a:ext uri="{FF2B5EF4-FFF2-40B4-BE49-F238E27FC236}">
                <a16:creationId xmlns:a16="http://schemas.microsoft.com/office/drawing/2014/main" id="{BF037705-1347-1544-BA93-DB2FBECB43FF}"/>
              </a:ext>
            </a:extLst>
          </p:cNvPr>
          <p:cNvSpPr txBox="1">
            <a:spLocks/>
          </p:cNvSpPr>
          <p:nvPr/>
        </p:nvSpPr>
        <p:spPr>
          <a:xfrm>
            <a:off x="6253266" y="15210071"/>
            <a:ext cx="3476027" cy="11178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00"/>
              </a:lnSpc>
              <a:spcBef>
                <a:spcPts val="0"/>
              </a:spcBef>
            </a:pPr>
            <a:r>
              <a:rPr lang="en-GB" sz="2200" b="1" noProof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Table 1 – REH Data</a:t>
            </a: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GB" sz="2000" b="1" noProof="0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Each row = one directed interaction, ordered in time.</a:t>
            </a:r>
          </a:p>
        </p:txBody>
      </p:sp>
      <p:sp>
        <p:nvSpPr>
          <p:cNvPr id="12" name="Rechthoek 44">
            <a:extLst>
              <a:ext uri="{FF2B5EF4-FFF2-40B4-BE49-F238E27FC236}">
                <a16:creationId xmlns:a16="http://schemas.microsoft.com/office/drawing/2014/main" id="{ECE3F25A-A5B2-8860-753A-9539ECE424EA}"/>
              </a:ext>
            </a:extLst>
          </p:cNvPr>
          <p:cNvSpPr/>
          <p:nvPr/>
        </p:nvSpPr>
        <p:spPr>
          <a:xfrm>
            <a:off x="1390147" y="27175007"/>
            <a:ext cx="8565405" cy="3326241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Subtitel 2">
            <a:extLst>
              <a:ext uri="{FF2B5EF4-FFF2-40B4-BE49-F238E27FC236}">
                <a16:creationId xmlns:a16="http://schemas.microsoft.com/office/drawing/2014/main" id="{D2C09FEC-341C-CAE9-98FA-1E6BB592733D}"/>
              </a:ext>
            </a:extLst>
          </p:cNvPr>
          <p:cNvSpPr txBox="1">
            <a:spLocks/>
          </p:cNvSpPr>
          <p:nvPr/>
        </p:nvSpPr>
        <p:spPr>
          <a:xfrm>
            <a:off x="1621057" y="27408875"/>
            <a:ext cx="7338171" cy="750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00"/>
              </a:lnSpc>
              <a:spcBef>
                <a:spcPts val="0"/>
              </a:spcBef>
            </a:pPr>
            <a:r>
              <a:rPr lang="en-GB" sz="2200" b="1" noProof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Table 2 – Multi-Receiver (MR) Data</a:t>
            </a: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GB" sz="1800" b="1" noProof="0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One email from Alice to Bob and Carol → two rows, same time.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72E5E47-C87D-EF62-53B2-E9AC65E8E6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702487"/>
              </p:ext>
            </p:extLst>
          </p:nvPr>
        </p:nvGraphicFramePr>
        <p:xfrm>
          <a:off x="1621057" y="28277589"/>
          <a:ext cx="7975923" cy="1993449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658641">
                  <a:extLst>
                    <a:ext uri="{9D8B030D-6E8A-4147-A177-3AD203B41FA5}">
                      <a16:colId xmlns:a16="http://schemas.microsoft.com/office/drawing/2014/main" val="965171947"/>
                    </a:ext>
                  </a:extLst>
                </a:gridCol>
                <a:gridCol w="2658641">
                  <a:extLst>
                    <a:ext uri="{9D8B030D-6E8A-4147-A177-3AD203B41FA5}">
                      <a16:colId xmlns:a16="http://schemas.microsoft.com/office/drawing/2014/main" val="1545957465"/>
                    </a:ext>
                  </a:extLst>
                </a:gridCol>
                <a:gridCol w="2658641">
                  <a:extLst>
                    <a:ext uri="{9D8B030D-6E8A-4147-A177-3AD203B41FA5}">
                      <a16:colId xmlns:a16="http://schemas.microsoft.com/office/drawing/2014/main" val="993728412"/>
                    </a:ext>
                  </a:extLst>
                </a:gridCol>
              </a:tblGrid>
              <a:tr h="664483">
                <a:tc>
                  <a:txBody>
                    <a:bodyPr/>
                    <a:lstStyle/>
                    <a:p>
                      <a:pPr algn="ctr"/>
                      <a:r>
                        <a:rPr lang="en-GB" sz="2400" noProof="0" dirty="0"/>
                        <a:t>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noProof="0" dirty="0"/>
                        <a:t>Sender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noProof="0" dirty="0"/>
                        <a:t>Receiver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837623"/>
                  </a:ext>
                </a:extLst>
              </a:tr>
              <a:tr h="664483">
                <a:tc>
                  <a:txBody>
                    <a:bodyPr/>
                    <a:lstStyle/>
                    <a:p>
                      <a:r>
                        <a:rPr lang="en-GB" sz="3200" noProof="0" dirty="0"/>
                        <a:t>18.7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noProof="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noProof="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579164"/>
                  </a:ext>
                </a:extLst>
              </a:tr>
              <a:tr h="664483">
                <a:tc>
                  <a:txBody>
                    <a:bodyPr/>
                    <a:lstStyle/>
                    <a:p>
                      <a:r>
                        <a:rPr lang="en-GB" sz="3200" noProof="0" dirty="0"/>
                        <a:t>18.7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noProof="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noProof="0" dirty="0"/>
                        <a:t>Carol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420630"/>
                  </a:ext>
                </a:extLst>
              </a:tr>
            </a:tbl>
          </a:graphicData>
        </a:graphic>
      </p:graphicFrame>
      <p:sp>
        <p:nvSpPr>
          <p:cNvPr id="27" name="Rechthoek 44">
            <a:extLst>
              <a:ext uri="{FF2B5EF4-FFF2-40B4-BE49-F238E27FC236}">
                <a16:creationId xmlns:a16="http://schemas.microsoft.com/office/drawing/2014/main" id="{C4F55CD9-8EEC-5A33-1D4D-C841F097DF66}"/>
              </a:ext>
            </a:extLst>
          </p:cNvPr>
          <p:cNvSpPr/>
          <p:nvPr/>
        </p:nvSpPr>
        <p:spPr>
          <a:xfrm>
            <a:off x="10827381" y="11184656"/>
            <a:ext cx="8565405" cy="30108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3DB4B7-EBC7-1C86-01EA-3057A4F56364}"/>
              </a:ext>
            </a:extLst>
          </p:cNvPr>
          <p:cNvSpPr txBox="1"/>
          <p:nvPr/>
        </p:nvSpPr>
        <p:spPr>
          <a:xfrm>
            <a:off x="11017214" y="11417786"/>
            <a:ext cx="8240782" cy="25853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800" i="1" noProof="0" dirty="0">
                <a:solidFill>
                  <a:schemeClr val="bg1"/>
                </a:solidFill>
                <a:latin typeface="Avenir Next LT Pro" panose="020B0504020202020204" pitchFamily="34" charset="0"/>
              </a:rPr>
              <a:t>“</a:t>
            </a:r>
            <a:r>
              <a:rPr lang="en-US" sz="2800" i="1" noProof="0" dirty="0">
                <a:solidFill>
                  <a:schemeClr val="bg1"/>
                </a:solidFill>
                <a:latin typeface="Avenir Next LT Pro" panose="020B0504020202020204" pitchFamily="34" charset="0"/>
              </a:rPr>
              <a:t>Up to what proportion of multi-receiver events does separating each multi-receiver event into dyadic events, with a small tie-breaking timestamp noise, preserve REM parameter estimates that remain close to the known dyadic generating parameters?”</a:t>
            </a:r>
            <a:endParaRPr lang="en-GB" sz="2800" i="1" noProof="0" dirty="0">
              <a:solidFill>
                <a:schemeClr val="bg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32" name="Tekstvak 56">
            <a:extLst>
              <a:ext uri="{FF2B5EF4-FFF2-40B4-BE49-F238E27FC236}">
                <a16:creationId xmlns:a16="http://schemas.microsoft.com/office/drawing/2014/main" id="{9A74C396-7D0A-7E99-B290-99BFBE9EA501}"/>
              </a:ext>
            </a:extLst>
          </p:cNvPr>
          <p:cNvSpPr txBox="1"/>
          <p:nvPr/>
        </p:nvSpPr>
        <p:spPr>
          <a:xfrm>
            <a:off x="10819386" y="10614275"/>
            <a:ext cx="85654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GB" sz="3000" b="1" noProof="0" dirty="0">
                <a:latin typeface="Merriweather" pitchFamily="2" charset="77"/>
              </a:rPr>
              <a:t>Research Question</a:t>
            </a:r>
          </a:p>
          <a:p>
            <a:pPr marL="457200" indent="-457200">
              <a:lnSpc>
                <a:spcPts val="3600"/>
              </a:lnSpc>
              <a:buFont typeface="Arial" panose="020B0604020202020204" pitchFamily="34" charset="0"/>
              <a:buChar char="•"/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lnSpc>
                <a:spcPts val="3600"/>
              </a:lnSpc>
              <a:buFont typeface="Arial" panose="020B0604020202020204" pitchFamily="34" charset="0"/>
              <a:buChar char="•"/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ABD844E-74FF-C5CB-F7AC-ED33BDB4BFA6}"/>
              </a:ext>
            </a:extLst>
          </p:cNvPr>
          <p:cNvCxnSpPr>
            <a:cxnSpLocks/>
          </p:cNvCxnSpPr>
          <p:nvPr/>
        </p:nvCxnSpPr>
        <p:spPr>
          <a:xfrm>
            <a:off x="10313070" y="9884570"/>
            <a:ext cx="0" cy="286591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45302AD-0F7D-A683-D42F-CEAC83360375}"/>
              </a:ext>
            </a:extLst>
          </p:cNvPr>
          <p:cNvCxnSpPr>
            <a:cxnSpLocks/>
          </p:cNvCxnSpPr>
          <p:nvPr/>
        </p:nvCxnSpPr>
        <p:spPr>
          <a:xfrm>
            <a:off x="20037602" y="9884569"/>
            <a:ext cx="0" cy="228985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D6B41720-FD61-6236-8BED-886570DF1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989197"/>
              </p:ext>
            </p:extLst>
          </p:nvPr>
        </p:nvGraphicFramePr>
        <p:xfrm>
          <a:off x="1646924" y="15197255"/>
          <a:ext cx="4352235" cy="2918016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450745">
                  <a:extLst>
                    <a:ext uri="{9D8B030D-6E8A-4147-A177-3AD203B41FA5}">
                      <a16:colId xmlns:a16="http://schemas.microsoft.com/office/drawing/2014/main" val="910582432"/>
                    </a:ext>
                  </a:extLst>
                </a:gridCol>
                <a:gridCol w="1450745">
                  <a:extLst>
                    <a:ext uri="{9D8B030D-6E8A-4147-A177-3AD203B41FA5}">
                      <a16:colId xmlns:a16="http://schemas.microsoft.com/office/drawing/2014/main" val="2010858987"/>
                    </a:ext>
                  </a:extLst>
                </a:gridCol>
                <a:gridCol w="1450745">
                  <a:extLst>
                    <a:ext uri="{9D8B030D-6E8A-4147-A177-3AD203B41FA5}">
                      <a16:colId xmlns:a16="http://schemas.microsoft.com/office/drawing/2014/main" val="803698616"/>
                    </a:ext>
                  </a:extLst>
                </a:gridCol>
              </a:tblGrid>
              <a:tr h="486336"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Sender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Receiver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487807"/>
                  </a:ext>
                </a:extLst>
              </a:tr>
              <a:tr h="486336"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10.0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951982"/>
                  </a:ext>
                </a:extLst>
              </a:tr>
              <a:tr h="486336"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12.5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27711"/>
                  </a:ext>
                </a:extLst>
              </a:tr>
              <a:tr h="486336"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18.7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Carol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61428"/>
                  </a:ext>
                </a:extLst>
              </a:tr>
              <a:tr h="486336"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22.3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Carol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65504"/>
                  </a:ext>
                </a:extLst>
              </a:tr>
              <a:tr h="486336"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27.1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Carol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914061"/>
                  </a:ext>
                </a:extLst>
              </a:tr>
            </a:tbl>
          </a:graphicData>
        </a:graphic>
      </p:graphicFrame>
      <p:sp>
        <p:nvSpPr>
          <p:cNvPr id="67" name="Tekstvak 56">
            <a:extLst>
              <a:ext uri="{FF2B5EF4-FFF2-40B4-BE49-F238E27FC236}">
                <a16:creationId xmlns:a16="http://schemas.microsoft.com/office/drawing/2014/main" id="{C27C2ADB-C92C-5C73-E4AD-731679F5B3C1}"/>
              </a:ext>
            </a:extLst>
          </p:cNvPr>
          <p:cNvSpPr txBox="1"/>
          <p:nvPr/>
        </p:nvSpPr>
        <p:spPr>
          <a:xfrm>
            <a:off x="10854958" y="14290623"/>
            <a:ext cx="8565404" cy="1717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GB" sz="3000" b="1" noProof="0" dirty="0">
                <a:latin typeface="Merriweather" pitchFamily="2" charset="77"/>
              </a:rPr>
              <a:t>Methodology</a:t>
            </a: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r>
              <a:rPr lang="en-US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simulate event data where five social mechanisms are </a:t>
            </a:r>
            <a:r>
              <a:rPr lang="en-US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known in advance</a:t>
            </a:r>
            <a:r>
              <a:rPr lang="en-US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then check whether REM still </a:t>
            </a:r>
            <a:r>
              <a:rPr lang="en-US" sz="3000" b="1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recovers</a:t>
            </a:r>
            <a:r>
              <a:rPr lang="en-US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them after multi-receiver splitting and tie-breaking noise.</a:t>
            </a: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r>
              <a:rPr lang="en-US" sz="3000" noProof="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These are estimated with REM on the transformed data and compared to the simulated truth.</a:t>
            </a: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endParaRPr lang="en-GB" sz="3000" noProof="0" dirty="0">
              <a:solidFill>
                <a:srgbClr val="0F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3600"/>
              </a:lnSpc>
            </a:pPr>
            <a:r>
              <a:rPr lang="en-US" sz="3000" b="1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When is recovery acceptable?</a:t>
            </a:r>
          </a:p>
          <a:p>
            <a:pPr>
              <a:lnSpc>
                <a:spcPts val="3600"/>
              </a:lnSpc>
            </a:pPr>
            <a:r>
              <a:rPr lang="en-US" sz="3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• At 0% MR: </a:t>
            </a:r>
            <a:r>
              <a:rPr lang="en-US" sz="3000" b="1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band</a:t>
            </a:r>
            <a:r>
              <a:rPr lang="en-US" sz="3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= 2× spread of recovery across 28 datasets (per effect)</a:t>
            </a:r>
          </a:p>
          <a:p>
            <a:pPr>
              <a:lnSpc>
                <a:spcPts val="3600"/>
              </a:lnSpc>
            </a:pPr>
            <a:r>
              <a:rPr lang="en-US" sz="3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• </a:t>
            </a:r>
            <a:r>
              <a:rPr lang="en-US" sz="3000" b="1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Pass</a:t>
            </a:r>
            <a:r>
              <a:rPr lang="en-US" sz="3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if bias stays within band → ratio &lt; </a:t>
            </a:r>
            <a:r>
              <a:rPr lang="en-US" sz="3000" b="1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1.0</a:t>
            </a:r>
            <a:r>
              <a:rPr lang="en-US" sz="3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 Figure 1</a:t>
            </a:r>
          </a:p>
          <a:p>
            <a:pPr>
              <a:lnSpc>
                <a:spcPts val="3600"/>
              </a:lnSpc>
            </a:pPr>
            <a:r>
              <a:rPr lang="en-US" sz="3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• </a:t>
            </a:r>
            <a:r>
              <a:rPr lang="en-US" sz="3000" b="1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Threshold</a:t>
            </a:r>
            <a:r>
              <a:rPr lang="en-US" sz="3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= highest MR% where all five effects still pass</a:t>
            </a:r>
          </a:p>
        </p:txBody>
      </p:sp>
      <p:sp>
        <p:nvSpPr>
          <p:cNvPr id="69" name="Rechthoek 44">
            <a:extLst>
              <a:ext uri="{FF2B5EF4-FFF2-40B4-BE49-F238E27FC236}">
                <a16:creationId xmlns:a16="http://schemas.microsoft.com/office/drawing/2014/main" id="{8ABC8E32-9FDD-F39A-723B-D5BC923B4846}"/>
              </a:ext>
            </a:extLst>
          </p:cNvPr>
          <p:cNvSpPr/>
          <p:nvPr/>
        </p:nvSpPr>
        <p:spPr>
          <a:xfrm>
            <a:off x="20469746" y="31719437"/>
            <a:ext cx="8565405" cy="636578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1" name="Subtitel 2">
            <a:extLst>
              <a:ext uri="{FF2B5EF4-FFF2-40B4-BE49-F238E27FC236}">
                <a16:creationId xmlns:a16="http://schemas.microsoft.com/office/drawing/2014/main" id="{EBA323FB-91AF-DB8C-B6B5-53DD43ED2510}"/>
              </a:ext>
            </a:extLst>
          </p:cNvPr>
          <p:cNvSpPr txBox="1">
            <a:spLocks/>
          </p:cNvSpPr>
          <p:nvPr/>
        </p:nvSpPr>
        <p:spPr>
          <a:xfrm>
            <a:off x="20779778" y="31808117"/>
            <a:ext cx="7887668" cy="11178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00"/>
              </a:lnSpc>
              <a:spcBef>
                <a:spcPts val="0"/>
              </a:spcBef>
            </a:pPr>
            <a:r>
              <a:rPr lang="en-GB" sz="2200" b="1" noProof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Figure 1 – Normalised</a:t>
            </a:r>
            <a:r>
              <a:rPr lang="en-US" sz="2200" b="1" noProof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recovery by multi-receiver share.</a:t>
            </a:r>
            <a:endParaRPr lang="en-GB" sz="2200" b="1" noProof="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sz="2000" b="1" noProof="0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y = |bias| / band; 1.0 = edge (shaded = fail). All lines below 1.0 through 8%; OTP crosses first at 16%.</a:t>
            </a:r>
            <a:endParaRPr lang="en-GB" sz="2000" b="1" noProof="0" dirty="0">
              <a:solidFill>
                <a:srgbClr val="0F1012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75" name="Rechthoek 44">
            <a:extLst>
              <a:ext uri="{FF2B5EF4-FFF2-40B4-BE49-F238E27FC236}">
                <a16:creationId xmlns:a16="http://schemas.microsoft.com/office/drawing/2014/main" id="{56EB90FA-C1C2-60EA-7333-90C625025FBB}"/>
              </a:ext>
            </a:extLst>
          </p:cNvPr>
          <p:cNvSpPr/>
          <p:nvPr/>
        </p:nvSpPr>
        <p:spPr>
          <a:xfrm>
            <a:off x="10854903" y="16945201"/>
            <a:ext cx="8565405" cy="4592111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graphicFrame>
        <p:nvGraphicFramePr>
          <p:cNvPr id="76" name="Table 75">
            <a:extLst>
              <a:ext uri="{FF2B5EF4-FFF2-40B4-BE49-F238E27FC236}">
                <a16:creationId xmlns:a16="http://schemas.microsoft.com/office/drawing/2014/main" id="{2559E93B-9E08-CABE-6D82-05997BF13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065118"/>
              </p:ext>
            </p:extLst>
          </p:nvPr>
        </p:nvGraphicFramePr>
        <p:xfrm>
          <a:off x="11144100" y="17633703"/>
          <a:ext cx="7915980" cy="368316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567504">
                  <a:extLst>
                    <a:ext uri="{9D8B030D-6E8A-4147-A177-3AD203B41FA5}">
                      <a16:colId xmlns:a16="http://schemas.microsoft.com/office/drawing/2014/main" val="2118255483"/>
                    </a:ext>
                  </a:extLst>
                </a:gridCol>
                <a:gridCol w="5348476">
                  <a:extLst>
                    <a:ext uri="{9D8B030D-6E8A-4147-A177-3AD203B41FA5}">
                      <a16:colId xmlns:a16="http://schemas.microsoft.com/office/drawing/2014/main" val="521157040"/>
                    </a:ext>
                  </a:extLst>
                </a:gridCol>
              </a:tblGrid>
              <a:tr h="713509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REM Effect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In plain terms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477602"/>
                  </a:ext>
                </a:extLst>
              </a:tr>
              <a:tr h="713509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Inertia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Tendency to message the same person again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373914"/>
                  </a:ext>
                </a:extLst>
              </a:tr>
              <a:tr h="52795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Reciprocity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Tendency to return a message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629179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OTP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Tendency via a shared contact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267599"/>
                  </a:ext>
                </a:extLst>
              </a:tr>
              <a:tr h="713509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Difference (active)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Effect of how “active” sender vs receiver are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65831"/>
                  </a:ext>
                </a:extLst>
              </a:tr>
              <a:tr h="510627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Same (group)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More likely within the same group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382085"/>
                  </a:ext>
                </a:extLst>
              </a:tr>
            </a:tbl>
          </a:graphicData>
        </a:graphic>
      </p:graphicFrame>
      <p:sp>
        <p:nvSpPr>
          <p:cNvPr id="79" name="Subtitel 2">
            <a:extLst>
              <a:ext uri="{FF2B5EF4-FFF2-40B4-BE49-F238E27FC236}">
                <a16:creationId xmlns:a16="http://schemas.microsoft.com/office/drawing/2014/main" id="{D0D98932-2750-F485-42E3-9A68F354EECE}"/>
              </a:ext>
            </a:extLst>
          </p:cNvPr>
          <p:cNvSpPr txBox="1">
            <a:spLocks/>
          </p:cNvSpPr>
          <p:nvPr/>
        </p:nvSpPr>
        <p:spPr>
          <a:xfrm>
            <a:off x="11146301" y="17114857"/>
            <a:ext cx="7338171" cy="3902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00"/>
              </a:lnSpc>
              <a:spcBef>
                <a:spcPts val="0"/>
              </a:spcBef>
            </a:pPr>
            <a:r>
              <a:rPr lang="en-GB" sz="2200" b="1" noProof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Table 3 – </a:t>
            </a:r>
            <a:r>
              <a:rPr lang="en-US" sz="2200" b="1" noProof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Five effects tracked for parameter recovery</a:t>
            </a:r>
            <a:endParaRPr lang="en-GB" sz="2200" b="1" noProof="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7" name="Rechthoek 44">
            <a:extLst>
              <a:ext uri="{FF2B5EF4-FFF2-40B4-BE49-F238E27FC236}">
                <a16:creationId xmlns:a16="http://schemas.microsoft.com/office/drawing/2014/main" id="{DDAE05A8-42C4-79B6-0A1C-673DC7F4EF5D}"/>
              </a:ext>
            </a:extLst>
          </p:cNvPr>
          <p:cNvSpPr/>
          <p:nvPr/>
        </p:nvSpPr>
        <p:spPr>
          <a:xfrm>
            <a:off x="10854958" y="23208392"/>
            <a:ext cx="8565405" cy="4274946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C8BFB5F6-BC02-FF53-18AC-C410A13DA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398600"/>
              </p:ext>
            </p:extLst>
          </p:nvPr>
        </p:nvGraphicFramePr>
        <p:xfrm>
          <a:off x="11168389" y="23896670"/>
          <a:ext cx="7915980" cy="344266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567504">
                  <a:extLst>
                    <a:ext uri="{9D8B030D-6E8A-4147-A177-3AD203B41FA5}">
                      <a16:colId xmlns:a16="http://schemas.microsoft.com/office/drawing/2014/main" val="2118255483"/>
                    </a:ext>
                  </a:extLst>
                </a:gridCol>
                <a:gridCol w="5348476">
                  <a:extLst>
                    <a:ext uri="{9D8B030D-6E8A-4147-A177-3AD203B41FA5}">
                      <a16:colId xmlns:a16="http://schemas.microsoft.com/office/drawing/2014/main" val="521157040"/>
                    </a:ext>
                  </a:extLst>
                </a:gridCol>
              </a:tblGrid>
              <a:tr h="509374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Setting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47760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Synthetic event histories (Lakdawala et al., 2025; remulate)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37391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Actors / events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 actors, 2,000 events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629179"/>
                  </a:ext>
                </a:extLst>
              </a:tr>
              <a:tr h="713509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Multi-receiver share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0, 2, 8, 16, 24% (+ 12% to locate crossing)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267599"/>
                  </a:ext>
                </a:extLst>
              </a:tr>
              <a:tr h="510627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Replication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28 independent baseline datasets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6583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Comparison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Recovered REM vs </a:t>
                      </a:r>
                      <a:r>
                        <a:rPr lang="en-US" sz="2000" b="1" dirty="0"/>
                        <a:t>known truth</a:t>
                      </a:r>
                      <a:endParaRPr lang="en-GB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382085"/>
                  </a:ext>
                </a:extLst>
              </a:tr>
            </a:tbl>
          </a:graphicData>
        </a:graphic>
      </p:graphicFrame>
      <p:sp>
        <p:nvSpPr>
          <p:cNvPr id="92" name="Subtitel 2">
            <a:extLst>
              <a:ext uri="{FF2B5EF4-FFF2-40B4-BE49-F238E27FC236}">
                <a16:creationId xmlns:a16="http://schemas.microsoft.com/office/drawing/2014/main" id="{2D353015-219B-0572-FC5F-441270290892}"/>
              </a:ext>
            </a:extLst>
          </p:cNvPr>
          <p:cNvSpPr txBox="1">
            <a:spLocks/>
          </p:cNvSpPr>
          <p:nvPr/>
        </p:nvSpPr>
        <p:spPr>
          <a:xfrm>
            <a:off x="11146356" y="23343615"/>
            <a:ext cx="7338171" cy="3902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00"/>
              </a:lnSpc>
              <a:spcBef>
                <a:spcPts val="0"/>
              </a:spcBef>
            </a:pPr>
            <a:r>
              <a:rPr lang="en-GB" sz="2200" b="1" noProof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Table 4 – </a:t>
            </a:r>
            <a:r>
              <a:rPr lang="en-US" sz="2200" b="1" noProof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Simulation Design</a:t>
            </a:r>
            <a:endParaRPr lang="en-GB" sz="2200" b="1" noProof="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0" name="Subtitel 2">
            <a:extLst>
              <a:ext uri="{FF2B5EF4-FFF2-40B4-BE49-F238E27FC236}">
                <a16:creationId xmlns:a16="http://schemas.microsoft.com/office/drawing/2014/main" id="{A52CA1E4-BA80-2EB5-782B-A969B459A82C}"/>
              </a:ext>
            </a:extLst>
          </p:cNvPr>
          <p:cNvSpPr txBox="1">
            <a:spLocks/>
          </p:cNvSpPr>
          <p:nvPr/>
        </p:nvSpPr>
        <p:spPr>
          <a:xfrm>
            <a:off x="11115687" y="30989392"/>
            <a:ext cx="7338171" cy="3902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00"/>
              </a:lnSpc>
              <a:spcBef>
                <a:spcPts val="0"/>
              </a:spcBef>
            </a:pPr>
            <a:r>
              <a:rPr lang="en-GB" sz="2200" b="1" noProof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Pipeline – Full methodology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4CFB9DF-072B-62CA-0D7A-BD78D78A356E}"/>
                  </a:ext>
                </a:extLst>
              </p:cNvPr>
              <p:cNvSpPr txBox="1"/>
              <p:nvPr/>
            </p:nvSpPr>
            <p:spPr>
              <a:xfrm>
                <a:off x="10981697" y="31568087"/>
                <a:ext cx="8246095" cy="7909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>
                          <a:latin typeface="Cambria Math" panose="02040503050406030204" pitchFamily="18" charset="0"/>
                        </a:rPr>
                        <m:t>𝑆𝑖𝑚𝑢𝑙𝑎𝑡𝑒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𝑑𝑦𝑎𝑑𝑖𝑐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𝑑𝑎𝑡𝑎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𝑖𝑛𝑗𝑒𝑐𝑡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𝑚𝑢𝑙𝑡𝑖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𝑟𝑒𝑐𝑒𝑖𝑣𝑒𝑟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𝑠h𝑎𝑟𝑒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𝑡𝑖𝑒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𝑏𝑟𝑒𝑎𝑘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𝑡𝑖𝑚𝑒𝑠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𝑓𝑖𝑡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𝑅𝐸𝑀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𝑐𝑜𝑚𝑝𝑎𝑟𝑒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𝑡𝑟𝑢𝑡h</m:t>
                      </m:r>
                    </m:oMath>
                  </m:oMathPara>
                </a14:m>
                <a:endParaRPr sz="26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4CFB9DF-072B-62CA-0D7A-BD78D78A3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1697" y="31568087"/>
                <a:ext cx="8246095" cy="7909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F4BA40-347A-C608-F320-3E955A85E710}"/>
                  </a:ext>
                </a:extLst>
              </p:cNvPr>
              <p:cNvSpPr txBox="1"/>
              <p:nvPr/>
            </p:nvSpPr>
            <p:spPr>
              <a:xfrm>
                <a:off x="1646924" y="36212011"/>
                <a:ext cx="7950056" cy="169373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𝑆𝑝𝑙𝑖𝑡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𝑚𝑢𝑙𝑡𝑖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𝑟𝑒𝑐𝑒𝑖𝑣𝑒𝑟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𝑒𝑣𝑒𝑛𝑡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𝑖𝑛𝑡𝑜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𝑑𝑦𝑎𝑑𝑠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𝑑𝑢𝑝𝑙𝑖𝑐𝑎𝑡𝑒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𝑡𝑖𝑚𝑒𝑠𝑡𝑎𝑚𝑝𝑠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𝑎𝑑𝑑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𝑡𝑖𝑛𝑦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𝑐𝑎𝑝𝑝𝑒𝑑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𝑑𝑒𝑙𝑎𝑦𝑠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𝑑𝑢𝑝𝑙𝑖𝑐𝑎𝑡𝑒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𝑟𝑜𝑤𝑠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𝑜𝑛𝑙𝑦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𝑢𝑛𝑖𝑞𝑢𝑒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𝑡𝑖𝑚𝑒𝑠𝑡𝑎𝑚𝑝𝑠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𝑓𝑖𝑡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𝑅𝐸𝑀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F4BA40-347A-C608-F320-3E955A85E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924" y="36212011"/>
                <a:ext cx="7950056" cy="16937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ubtitel 2">
            <a:extLst>
              <a:ext uri="{FF2B5EF4-FFF2-40B4-BE49-F238E27FC236}">
                <a16:creationId xmlns:a16="http://schemas.microsoft.com/office/drawing/2014/main" id="{69597A0E-5BB0-AB8F-0433-87F71A8906E8}"/>
              </a:ext>
            </a:extLst>
          </p:cNvPr>
          <p:cNvSpPr txBox="1">
            <a:spLocks/>
          </p:cNvSpPr>
          <p:nvPr/>
        </p:nvSpPr>
        <p:spPr>
          <a:xfrm>
            <a:off x="1753145" y="35629880"/>
            <a:ext cx="7338171" cy="3902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00"/>
              </a:lnSpc>
              <a:spcBef>
                <a:spcPts val="0"/>
              </a:spcBef>
            </a:pPr>
            <a:r>
              <a:rPr lang="en-GB" sz="2200" b="1" noProof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Pipeline – Timestamp-noise injection</a:t>
            </a:r>
          </a:p>
        </p:txBody>
      </p:sp>
      <p:sp>
        <p:nvSpPr>
          <p:cNvPr id="8" name="Rechthoek 44">
            <a:extLst>
              <a:ext uri="{FF2B5EF4-FFF2-40B4-BE49-F238E27FC236}">
                <a16:creationId xmlns:a16="http://schemas.microsoft.com/office/drawing/2014/main" id="{2F67152D-492A-ABAF-BA46-6997848862E3}"/>
              </a:ext>
            </a:extLst>
          </p:cNvPr>
          <p:cNvSpPr/>
          <p:nvPr/>
        </p:nvSpPr>
        <p:spPr>
          <a:xfrm>
            <a:off x="20577757" y="14351123"/>
            <a:ext cx="8565405" cy="1976755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Subtitel 2">
            <a:extLst>
              <a:ext uri="{FF2B5EF4-FFF2-40B4-BE49-F238E27FC236}">
                <a16:creationId xmlns:a16="http://schemas.microsoft.com/office/drawing/2014/main" id="{5AAE5D8E-543C-D0A7-B617-B2FFF94B3FF4}"/>
              </a:ext>
            </a:extLst>
          </p:cNvPr>
          <p:cNvSpPr txBox="1">
            <a:spLocks/>
          </p:cNvSpPr>
          <p:nvPr/>
        </p:nvSpPr>
        <p:spPr>
          <a:xfrm>
            <a:off x="21083362" y="14517195"/>
            <a:ext cx="7338171" cy="3902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300"/>
              </a:lnSpc>
              <a:spcBef>
                <a:spcPts val="0"/>
              </a:spcBef>
            </a:pPr>
            <a:r>
              <a:rPr lang="en-GB" sz="2200" b="1" noProof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Table 5 – </a:t>
            </a:r>
            <a:r>
              <a:rPr lang="en-US" sz="2200" b="1" noProof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Three zones</a:t>
            </a:r>
            <a:endParaRPr lang="en-GB" sz="2200" b="1" noProof="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B30671C-9C32-0612-DA61-28269D67C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670403"/>
              </p:ext>
            </p:extLst>
          </p:nvPr>
        </p:nvGraphicFramePr>
        <p:xfrm>
          <a:off x="21008439" y="15072466"/>
          <a:ext cx="7619850" cy="97267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539950">
                  <a:extLst>
                    <a:ext uri="{9D8B030D-6E8A-4147-A177-3AD203B41FA5}">
                      <a16:colId xmlns:a16="http://schemas.microsoft.com/office/drawing/2014/main" val="910582432"/>
                    </a:ext>
                  </a:extLst>
                </a:gridCol>
                <a:gridCol w="2539950">
                  <a:extLst>
                    <a:ext uri="{9D8B030D-6E8A-4147-A177-3AD203B41FA5}">
                      <a16:colId xmlns:a16="http://schemas.microsoft.com/office/drawing/2014/main" val="2010858987"/>
                    </a:ext>
                  </a:extLst>
                </a:gridCol>
                <a:gridCol w="2539950">
                  <a:extLst>
                    <a:ext uri="{9D8B030D-6E8A-4147-A177-3AD203B41FA5}">
                      <a16:colId xmlns:a16="http://schemas.microsoft.com/office/drawing/2014/main" val="803698616"/>
                    </a:ext>
                  </a:extLst>
                </a:gridCol>
              </a:tblGrid>
              <a:tr h="486336"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Reliable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Borderline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Unreliable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487807"/>
                  </a:ext>
                </a:extLst>
              </a:tr>
              <a:tr h="486336"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≤ ~8%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~8 – 12%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noProof="0" dirty="0"/>
                        <a:t>≥ ~12%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951982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111A928-7B12-BDB3-66B6-DEB843D359D6}"/>
              </a:ext>
            </a:extLst>
          </p:cNvPr>
          <p:cNvCxnSpPr>
            <a:cxnSpLocks/>
          </p:cNvCxnSpPr>
          <p:nvPr/>
        </p:nvCxnSpPr>
        <p:spPr>
          <a:xfrm flipH="1">
            <a:off x="10313070" y="32783114"/>
            <a:ext cx="97245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hthoek 44">
            <a:extLst>
              <a:ext uri="{FF2B5EF4-FFF2-40B4-BE49-F238E27FC236}">
                <a16:creationId xmlns:a16="http://schemas.microsoft.com/office/drawing/2014/main" id="{8E3F4895-97A5-4348-7702-712678213270}"/>
              </a:ext>
            </a:extLst>
          </p:cNvPr>
          <p:cNvSpPr/>
          <p:nvPr/>
        </p:nvSpPr>
        <p:spPr>
          <a:xfrm>
            <a:off x="10745214" y="32989280"/>
            <a:ext cx="9724532" cy="509593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5" name="Rechthoek 44">
            <a:extLst>
              <a:ext uri="{FF2B5EF4-FFF2-40B4-BE49-F238E27FC236}">
                <a16:creationId xmlns:a16="http://schemas.microsoft.com/office/drawing/2014/main" id="{C305534E-4FC6-DE6C-966F-3BED3836B4E9}"/>
              </a:ext>
            </a:extLst>
          </p:cNvPr>
          <p:cNvSpPr/>
          <p:nvPr/>
        </p:nvSpPr>
        <p:spPr>
          <a:xfrm>
            <a:off x="15102087" y="33010830"/>
            <a:ext cx="7887668" cy="50512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854037E-E72A-A539-433D-7F4C08992C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36349" y="33132988"/>
            <a:ext cx="15909966" cy="47729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35791218"/>
      </p:ext>
    </p:extLst>
  </p:cSld>
  <p:clrMapOvr>
    <a:masterClrMapping/>
  </p:clrMapOvr>
</p:sld>
</file>

<file path=ppt/theme/theme1.xml><?xml version="1.0" encoding="utf-8"?>
<a:theme xmlns:a="http://schemas.openxmlformats.org/drawingml/2006/main" name="Thema_UU">
  <a:themeElements>
    <a:clrScheme name="UU_Kleurenpalet voor MS Office">
      <a:dk1>
        <a:srgbClr val="000000"/>
      </a:dk1>
      <a:lt1>
        <a:srgbClr val="FFFFFF"/>
      </a:lt1>
      <a:dk2>
        <a:srgbClr val="C00935"/>
      </a:dk2>
      <a:lt2>
        <a:srgbClr val="D9D9D9"/>
      </a:lt2>
      <a:accent1>
        <a:srgbClr val="FFCD00"/>
      </a:accent1>
      <a:accent2>
        <a:srgbClr val="DD9562"/>
      </a:accent2>
      <a:accent3>
        <a:srgbClr val="911D56"/>
      </a:accent3>
      <a:accent4>
        <a:srgbClr val="63A593"/>
      </a:accent4>
      <a:accent5>
        <a:srgbClr val="161D41"/>
      </a:accent5>
      <a:accent6>
        <a:srgbClr val="6686C3"/>
      </a:accent6>
      <a:hlink>
        <a:srgbClr val="52287F"/>
      </a:hlink>
      <a:folHlink>
        <a:srgbClr val="623E2B"/>
      </a:folHlink>
    </a:clrScheme>
    <a:fontScheme name="Lettertype UU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Thema_UU" id="{69539A96-05D9-9F44-937C-76FDE5EEAA32}" vid="{C9683E3C-EB62-FC4E-89BA-4F8478459AA6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Thema_UU</Template>
  <TotalTime>0</TotalTime>
  <Words>1080</Words>
  <Application>Microsoft Office PowerPoint</Application>
  <PresentationFormat>Custom</PresentationFormat>
  <Paragraphs>170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Avenir Next LT Pro</vt:lpstr>
      <vt:lpstr>Calibri</vt:lpstr>
      <vt:lpstr>Cambria Math</vt:lpstr>
      <vt:lpstr>Merriweather</vt:lpstr>
      <vt:lpstr>Merriweather Regular</vt:lpstr>
      <vt:lpstr>Open Sans</vt:lpstr>
      <vt:lpstr>Open Sans SemiBold</vt:lpstr>
      <vt:lpstr>Verdana</vt:lpstr>
      <vt:lpstr>Thema_UU</vt:lpstr>
      <vt:lpstr>PowerPoint Presentation</vt:lpstr>
    </vt:vector>
  </TitlesOfParts>
  <Company>UU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Frouke</dc:creator>
  <cp:lastModifiedBy>Silva Cheinquer, G. (Gabriel)</cp:lastModifiedBy>
  <cp:revision>291</cp:revision>
  <cp:lastPrinted>2015-10-14T14:40:41Z</cp:lastPrinted>
  <dcterms:created xsi:type="dcterms:W3CDTF">2013-01-24T08:51:25Z</dcterms:created>
  <dcterms:modified xsi:type="dcterms:W3CDTF">2026-06-24T09:52:56Z</dcterms:modified>
</cp:coreProperties>
</file>